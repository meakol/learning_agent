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开场：本讲解决序列建模中的长距离依赖与并行计算问题，核心是注意力机制。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路线图对应六个知识模块。考试重点通常集中在缩放点积注意力、多头机制和复杂度分析。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RNN 串行导致训练慢，长依赖会衰减。注意力把任意位置两两交互，路径长度为 O(1)，且矩阵运算可并行。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公式：softmax(QK^T/sqrt(d_k))V。缩放的原因：假设 q、k 各维独立且方差为 1，点积方差为 d_k，除以 sqrt(d_k) 后方差回到 1，梯度更稳定。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Q/K/V 是同一输入的不同线性投影。Q 与 K 做点积得到匹配分数，V 是被聚合的内容。self-attention 中 Q、K、V 来自同一序列。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多头不是简单重复：每个头有独立投影参数，可在不同表示子空间捕捉不同关系。总计算量与单头 d_model 相近，常用 h=8/16，d_k=d_model/h。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没有位置编码时，打乱输入顺序输出不变。正弦编码不需训练，可处理训练时未见过的更长序列。RoPE 通过旋转注入相对位置，广泛用于大模型。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&amp; Norm 通常写作 LayerNorm(x + Sublayer(x))。Pre-LN 把归一化放在子层输入，训练更稳定，是现代大模型常见结构。FFN 通常 d_ff = 4 d_model。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复杂度对比是高频考点。RNN 路径长度 O(n) 导致长依赖难学；Transformer 路径 O(1) 但复杂度随序列平方增长。FlashAttention 优化的是显存访问而非改变理论复杂度。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总结本讲五个关键词。自测题答案可在前几页笔记中找到。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463040"/>
            <a:ext cx="2377440" cy="2377440"/>
          </a:xfrm>
          <a:prstGeom prst="ellipse">
            <a:avLst/>
          </a:prstGeom>
          <a:solidFill>
            <a:srgbClr val="433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029200"/>
            <a:ext cx="1280160" cy="1280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</a:rPr>
              <a:t>DEEP LEARNING · LECTURE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412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Transformer 与
注意力机制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20440"/>
            <a:ext cx="1097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Microsoft YaHei"/>
              </a:rPr>
              <a:t>从 Self-Attention 到 Multi-Head：原理、公式与考点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Microsoft YaHei"/>
              </a:rPr>
              <a:t>本课件用于演示 · 笔记智能体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本讲路线图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675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为什么需要注意力：RNN 的顺序依赖与信息瓶颈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缩放点积注意力：Q、K、V 与 softmax 计算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多头注意力：并行子空间与表达能力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位置编码：让模型感知顺序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残差、层归一化与前馈网络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300"/>
              </a:spcAft>
              <a:buChar char="•"/>
              <a:buFont typeface="Arial"/>
            </a:pPr>
            <a:r>
              <a:rPr sz="1800">
                <a:solidFill>
                  <a:srgbClr val="0F172A"/>
                </a:solidFill>
                <a:latin typeface="Microsoft YaHei"/>
              </a:rPr>
              <a:t>复杂度对比、常见误区与考点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74519"/>
            <a:ext cx="3520440" cy="3886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366F1"/>
                </a:solidFill>
                <a:latin typeface="Microsoft YaHei"/>
              </a:rPr>
              <a:t>一句话概括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Microsoft YaHei"/>
              </a:rPr>
              <a:t>用注意力直接建模任意两个位置之间的关系，并以并行计算替代循环结构。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463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关键词：QKV · 缩放 · 多头 · 位置编码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为什么需要注意力？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RNN 的三个瓶颈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顺序计算：第 t 步依赖第 t−1 步，无法充分并行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长距离衰减：信息需逐步传递，远距离依赖容易丢失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固定瓶颈：编码器把整句压进一个固定维度向量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4892040" cy="42062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366F1"/>
                </a:solidFill>
                <a:latin typeface="Microsoft YaHei"/>
              </a:rPr>
              <a:t>注意力的关键转变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4160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0F172A"/>
                </a:solidFill>
                <a:latin typeface="Microsoft YaHei"/>
              </a:rPr>
              <a:t>任意两个位置之间建立直接连接
计算复杂度可并行
权重由数据动态学习，而非固定窗口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SCALED DOT-PRODUCT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缩放点积注意力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766560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Attention(Q, K, V) = softmax( QKᵀ / √dₖ )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6720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12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QKᵀ 计算每个 query 与所有 key 的相似度分数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2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除以 √dₖ 控制方差，避免 softmax 进入饱和区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2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softmax 归一化为注意力权重，再对 V 加权求和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78308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706"/>
                </a:solidFill>
                <a:latin typeface="Microsoft YaHei"/>
              </a:rPr>
              <a:t>易错点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2834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① 忘记缩放，维度越大分数方差越大
② softmax 沿 key 维度进行
③ dₖ 是 key 的维度，不是序列长度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Q / K / V 的直觉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Microsoft YaHei"/>
              </a:rPr>
              <a:t>把注意力想成一次“带软匹配的检索”：用 Q 去匹配 K，取回对应的 V。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366F1"/>
                </a:solidFill>
                <a:latin typeface="Microsoft YaHei"/>
              </a:rPr>
              <a:t>Q ·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icrosoft YaHei"/>
              </a:rPr>
              <a:t>我在找什么？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11880"/>
            <a:ext cx="2697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当前 token 发出的查询向量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46888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6974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Microsoft YaHei"/>
              </a:rPr>
              <a:t>K ·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icrosoft YaHei"/>
              </a:rPr>
              <a:t>我有什么标签？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611880"/>
            <a:ext cx="2697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每个 token 用于被匹配的索引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46888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6974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D97706"/>
                </a:solidFill>
                <a:latin typeface="Microsoft YaHei"/>
              </a:rPr>
              <a:t>V ·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Microsoft YaHei"/>
              </a:rPr>
              <a:t>我提供什么内容？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3611880"/>
            <a:ext cx="2697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匹配后真正被加权汇总的信息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三个向量均由输入通过不同的线性变换 WQ、WK、WV 得到。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多头注意力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400800" cy="24439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920240"/>
            <a:ext cx="40690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900"/>
              </a:spcAft>
              <a:buChar char="•"/>
              <a:buFont typeface="Arial"/>
            </a:pPr>
            <a:r>
              <a:rPr sz="1400">
                <a:solidFill>
                  <a:srgbClr val="0F172A"/>
                </a:solidFill>
                <a:latin typeface="Microsoft YaHei"/>
              </a:rPr>
              <a:t>把 d_model 投影到 h 组独立的 Q/K/V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900"/>
              </a:spcAft>
              <a:buChar char="•"/>
              <a:buFont typeface="Arial"/>
            </a:pPr>
            <a:r>
              <a:rPr sz="1400">
                <a:solidFill>
                  <a:srgbClr val="0F172A"/>
                </a:solidFill>
                <a:latin typeface="Microsoft YaHei"/>
              </a:rPr>
              <a:t>每组在不同子空间计算注意力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900"/>
              </a:spcAft>
              <a:buChar char="•"/>
              <a:buFont typeface="Arial"/>
            </a:pPr>
            <a:r>
              <a:rPr sz="1400">
                <a:solidFill>
                  <a:srgbClr val="0F172A"/>
                </a:solidFill>
                <a:latin typeface="Microsoft YaHei"/>
              </a:rPr>
              <a:t>拼接各头输出，再经 Wᴼ 融合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900"/>
              </a:spcAft>
              <a:buChar char="•"/>
              <a:buFont typeface="Arial"/>
            </a:pPr>
            <a:r>
              <a:rPr sz="1400">
                <a:solidFill>
                  <a:srgbClr val="0F172A"/>
                </a:solidFill>
                <a:latin typeface="Microsoft YaHei"/>
              </a:rPr>
              <a:t>不同头可关注语法、指代、位置等模式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3949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366F1"/>
                </a:solidFill>
                <a:latin typeface="Microsoft YaHei"/>
              </a:rPr>
              <a:t>head_i = Attention(QWᵢQ, KWᵢK, VWᵢV)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POSITIONAL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位置编码：让模型感知顺序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400800" cy="13258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PE(pos, 2i) = sin(pos / 10000^(2i/d))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PE(pos, 2i+1) = cos(pos / 10000^(2i/d))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6583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自注意力对位置置换不变，必须注入顺序信息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正弦/余弦编码可外推到更长序列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1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也可使用可学习位置嵌入或 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783080"/>
            <a:ext cx="3611880" cy="4069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0574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Microsoft YaHei"/>
              </a:rPr>
              <a:t>为什么有效？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5146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不同频率的正余弦波组合，为每个位置生成唯一且平滑的“指纹”，相对位置可由线性变换表示。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ADD &amp; NORM · FFN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残差、层归一化与前馈网络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246120" cy="3429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084831"/>
            <a:ext cx="685800" cy="292608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366F1"/>
                </a:solidFill>
                <a:latin typeface="Microsoft YaHei"/>
              </a:rPr>
              <a:t>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Microsoft YaHei"/>
              </a:rPr>
              <a:t>残差连接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0896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x + Sublayer(x)，缓解深层退化，改善梯度流动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246120" cy="3429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2" y="2084831"/>
            <a:ext cx="685800" cy="292608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1305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366F1"/>
                </a:solidFill>
                <a:latin typeface="Microsoft YaHei"/>
              </a:rPr>
              <a:t>Norm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Microsoft YaHei"/>
              </a:rPr>
              <a:t>层归一化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10896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对每个 token 的特征维度归一化，稳定训练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28800"/>
            <a:ext cx="3246120" cy="3429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9871" y="2084831"/>
            <a:ext cx="685800" cy="292608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366F1"/>
                </a:solidFill>
                <a:latin typeface="Microsoft YaHei"/>
              </a:rPr>
              <a:t>FFN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Microsoft YaHei"/>
              </a:rPr>
              <a:t>逐位置前馈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310896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两层线性 + 激活，独立作用于每个位置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Post-LN：Norm(x + Sublayer(x))　|　Pre-LN：x + Sublayer(Norm(x))，深层训练更常用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复杂度与结构对比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28800"/>
          <a:ext cx="104241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560320"/>
                <a:gridCol w="2194560"/>
              </a:tblGrid>
              <a:tr h="7635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每层复杂度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最大路径长度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顺序计算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O(n · d²)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O(k · n · d²)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O(log_k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O(n² · 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13892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注意：O(n²) 来自每个 token 与所有 token 计算注意力分数，长文本是主要瓶颈。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366F1"/>
                </a:solidFill>
                <a:latin typeface="Microsoft YaHe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</a:rPr>
              <a:t>本讲小结与自测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481328"/>
            <a:ext cx="731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Transformer 与注意力机制 · 深度学习第 6 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035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lr>
                <a:srgbClr val="6366F1"/>
              </a:buClr>
              <a:lnSpc>
                <a:spcPct val="118000"/>
              </a:lnSpc>
              <a:spcAft>
                <a:spcPts val="10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注意力 = 相似度打分 + softmax 权重 + 加权求和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0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缩放 √dₖ 是稳定训练的关键细节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0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多头在不同子空间并行捕捉关系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0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位置编码弥补置换不变性</a:t>
            </a:r>
          </a:p>
          <a:p>
            <a:pPr>
              <a:buClr>
                <a:srgbClr val="6366F1"/>
              </a:buClr>
              <a:lnSpc>
                <a:spcPct val="118000"/>
              </a:lnSpc>
              <a:spcAft>
                <a:spcPts val="1000"/>
              </a:spcAft>
              <a:buChar char="•"/>
              <a:buFont typeface="Arial"/>
            </a:pPr>
            <a:r>
              <a:rPr sz="1600">
                <a:solidFill>
                  <a:srgbClr val="0F172A"/>
                </a:solidFill>
                <a:latin typeface="Microsoft YaHei"/>
              </a:rPr>
              <a:t>残差 + LayerNorm 支撑深层堆叠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810512"/>
            <a:ext cx="4160520" cy="402336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0574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自测题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514600"/>
            <a:ext cx="3520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1. 为什么要除以 √dₖ？
2. 多头与单头的本质区别？
3. 没有位置编码会怎样？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